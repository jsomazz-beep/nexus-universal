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>
                <a:solidFill>
                  <a:srgbClr val="0F172A"/>
                </a:solidFill>
                <a:latin typeface="Segoe UI"/>
              </a:rPr>
              <a:t>Guia de Uso do WebApp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>
                <a:latin typeface="Segoe UI"/>
              </a:rPr>
              <a:t>Strategic Intelligence Reporter | Versão prática para operação diária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rgbClr val="0F172A"/>
                </a:solidFill>
                <a:latin typeface="Segoe UI"/>
              </a:rPr>
              <a:t>1. Objetivo do WebApp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>
                <a:latin typeface="Segoe UI"/>
              </a:rPr>
              <a:t>Gerar relatórios de notícias e oportunidades de forma rápida e padronizada.</a:t>
            </a:r>
          </a:p>
          <a:p>
            <a:pPr>
              <a:defRPr sz="2200"/>
            </a:pPr>
            <a:r>
              <a:rPr>
                <a:latin typeface="Segoe UI"/>
              </a:rPr>
              <a:t>Permitir configuração por categorias, países, fontes e período.</a:t>
            </a:r>
          </a:p>
          <a:p>
            <a:pPr>
              <a:defRPr sz="2200"/>
            </a:pPr>
            <a:r>
              <a:rPr>
                <a:latin typeface="Segoe UI"/>
              </a:rPr>
              <a:t>Salvar perfis de busca para execuções recorrentes sem retrabalho.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rgbClr val="0F172A"/>
                </a:solidFill>
                <a:latin typeface="Segoe UI"/>
              </a:rPr>
              <a:t>2. Como abrir o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>
                <a:latin typeface="Segoe UI"/>
              </a:rPr>
              <a:t>Executar: dist\StrategicIntelligenceWebApp.exe</a:t>
            </a:r>
          </a:p>
          <a:p>
            <a:pPr>
              <a:defRPr sz="2200"/>
            </a:pPr>
            <a:r>
              <a:rPr>
                <a:latin typeface="Segoe UI"/>
              </a:rPr>
              <a:t>O navegador abre em: http://127.0.0.1:8787</a:t>
            </a:r>
          </a:p>
          <a:p>
            <a:pPr>
              <a:defRPr sz="2200"/>
            </a:pPr>
            <a:r>
              <a:rPr>
                <a:latin typeface="Segoe UI"/>
              </a:rPr>
              <a:t>Se bloqueado pelo Windows: Mais informações &gt; Executar assim mesmo.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rgbClr val="0F172A"/>
                </a:solidFill>
                <a:latin typeface="Segoe UI"/>
              </a:rPr>
              <a:t>3. Passo a passo rápido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>
                <a:latin typeface="Segoe UI"/>
              </a:rPr>
              <a:t>Selecionar categorias/palavras-chave.</a:t>
            </a:r>
          </a:p>
          <a:p>
            <a:pPr>
              <a:defRPr sz="2200"/>
            </a:pPr>
            <a:r>
              <a:rPr>
                <a:latin typeface="Segoe UI"/>
              </a:rPr>
              <a:t>Selecionar países/regiões + subregiões opcionais.</a:t>
            </a:r>
          </a:p>
          <a:p>
            <a:pPr>
              <a:defRPr sz="2200"/>
            </a:pPr>
            <a:r>
              <a:rPr>
                <a:latin typeface="Segoe UI"/>
              </a:rPr>
              <a:t>Configurar quantidade de notícias e intervalo em dias.</a:t>
            </a:r>
          </a:p>
          <a:p>
            <a:pPr>
              <a:defRPr sz="2200"/>
            </a:pPr>
            <a:r>
              <a:rPr>
                <a:latin typeface="Segoe UI"/>
              </a:rPr>
              <a:t>Ajustar FONTES e clicar em Gerar Relatório.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rgbClr val="0F172A"/>
                </a:solidFill>
                <a:latin typeface="Segoe UI"/>
              </a:rPr>
              <a:t>4. Seção FONTES (organizada)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486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rPr>
                <a:latin typeface="Segoe UI"/>
              </a:rPr>
              <a:t>Blocos recolhíveis</a:t>
            </a:r>
          </a:p>
          <a:p>
            <a:pPr>
              <a:defRPr sz="2000"/>
            </a:pPr>
            <a:r>
              <a:rPr>
                <a:latin typeface="Segoe UI"/>
              </a:rPr>
              <a:t>- Fontes configuradas para coleta</a:t>
            </a:r>
          </a:p>
          <a:p>
            <a:pPr>
              <a:defRPr sz="2000"/>
            </a:pPr>
            <a:r>
              <a:rPr>
                <a:latin typeface="Segoe UI"/>
              </a:rPr>
              <a:t>- Fontes extras sugeridas (one-click)</a:t>
            </a:r>
          </a:p>
          <a:p>
            <a:pPr>
              <a:defRPr sz="2000"/>
            </a:pPr>
            <a:r>
              <a:rPr>
                <a:latin typeface="Segoe UI"/>
              </a:rPr>
              <a:t>- Pacotes geográficos</a:t>
            </a:r>
          </a:p>
          <a:p>
            <a:pPr>
              <a:defRPr sz="2000"/>
            </a:pPr>
            <a:r>
              <a:rPr>
                <a:latin typeface="Segoe UI"/>
              </a:rPr>
              <a:t>- Novas fontes por URL (RSS/feed)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280160"/>
            <a:ext cx="5486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rPr>
                <a:latin typeface="Segoe UI"/>
              </a:rPr>
              <a:t>Como usar melhor</a:t>
            </a:r>
          </a:p>
          <a:p>
            <a:pPr>
              <a:defRPr sz="2000"/>
            </a:pPr>
            <a:r>
              <a:rPr>
                <a:latin typeface="Segoe UI"/>
              </a:rPr>
              <a:t>- Marque apenas fontes aderentes ao tema</a:t>
            </a:r>
          </a:p>
          <a:p>
            <a:pPr>
              <a:defRPr sz="2000"/>
            </a:pPr>
            <a:r>
              <a:rPr>
                <a:latin typeface="Segoe UI"/>
              </a:rPr>
              <a:t>- Use pacotes por país quando precisar cobertura ampla</a:t>
            </a:r>
          </a:p>
          <a:p>
            <a:pPr>
              <a:defRPr sz="2000"/>
            </a:pPr>
            <a:r>
              <a:rPr>
                <a:latin typeface="Segoe UI"/>
              </a:rPr>
              <a:t>- Adicione RSS próprios no campo de URL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rgbClr val="0F172A"/>
                </a:solidFill>
                <a:latin typeface="Segoe UI"/>
              </a:rPr>
              <a:t>5. Pacotes geográficos por país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>
                <a:latin typeface="Segoe UI"/>
              </a:rPr>
              <a:t>Cada país possui checkbox individual.</a:t>
            </a:r>
          </a:p>
          <a:p>
            <a:pPr>
              <a:defRPr sz="2200"/>
            </a:pPr>
            <a:r>
              <a:rPr>
                <a:latin typeface="Segoe UI"/>
              </a:rPr>
              <a:t>Selecione somente os países necessários para reduzir ruído.</a:t>
            </a:r>
          </a:p>
          <a:p>
            <a:pPr>
              <a:defRPr sz="2200"/>
            </a:pPr>
            <a:r>
              <a:rPr>
                <a:latin typeface="Segoe UI"/>
              </a:rPr>
              <a:t>As fontes dos países marcados entram automaticamente na coleta.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rgbClr val="0F172A"/>
                </a:solidFill>
                <a:latin typeface="Segoe UI"/>
              </a:rPr>
              <a:t>6. Perfis de busca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>
                <a:latin typeface="Segoe UI"/>
              </a:rPr>
              <a:t>Salvar perfil: guarda toda a configuração atual.</a:t>
            </a:r>
          </a:p>
          <a:p>
            <a:pPr>
              <a:defRPr sz="2200"/>
            </a:pPr>
            <a:r>
              <a:rPr>
                <a:latin typeface="Segoe UI"/>
              </a:rPr>
              <a:t>Duplicar perfil: cria variações rápidas.</a:t>
            </a:r>
          </a:p>
          <a:p>
            <a:pPr>
              <a:defRPr sz="2200"/>
            </a:pPr>
            <a:r>
              <a:rPr>
                <a:latin typeface="Segoe UI"/>
              </a:rPr>
              <a:t>Excluir perfil: remove configurações antigas.</a:t>
            </a:r>
          </a:p>
          <a:p>
            <a:pPr>
              <a:defRPr sz="2200"/>
            </a:pPr>
            <a:r>
              <a:rPr>
                <a:latin typeface="Segoe UI"/>
              </a:rPr>
              <a:t>Definir padrão: carrega automaticamente ao abrir.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rgbClr val="0F172A"/>
                </a:solidFill>
                <a:latin typeface="Segoe UI"/>
              </a:rPr>
              <a:t>7. Resultado e visualização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>
                <a:latin typeface="Segoe UI"/>
              </a:rPr>
              <a:t>Após executar, o relatório abre no iframe da própria tela.</a:t>
            </a:r>
          </a:p>
          <a:p>
            <a:pPr>
              <a:defRPr sz="2200"/>
            </a:pPr>
            <a:r>
              <a:rPr>
                <a:latin typeface="Segoe UI"/>
              </a:rPr>
              <a:t>Também é possível abrir em nova aba e escolher relatórios antigos.</a:t>
            </a:r>
          </a:p>
          <a:p>
            <a:pPr>
              <a:defRPr sz="2200"/>
            </a:pPr>
            <a:r>
              <a:rPr>
                <a:latin typeface="Segoe UI"/>
              </a:rPr>
              <a:t>Use o status para verificar coletadas, filtradas e aprovadas.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rgbClr val="0F172A"/>
                </a:solidFill>
                <a:latin typeface="Segoe UI"/>
              </a:rPr>
              <a:t>8. Dicas para evitar relatório vazio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>
                <a:latin typeface="Segoe UI"/>
              </a:rPr>
              <a:t>Aumentar intervalo de dias (ex.: 14 a 30).</a:t>
            </a:r>
          </a:p>
          <a:p>
            <a:pPr>
              <a:defRPr sz="2200"/>
            </a:pPr>
            <a:r>
              <a:rPr>
                <a:latin typeface="Segoe UI"/>
              </a:rPr>
              <a:t>Selecionar mais países/fontes relevantes.</a:t>
            </a:r>
          </a:p>
          <a:p>
            <a:pPr>
              <a:defRPr sz="2200"/>
            </a:pPr>
            <a:r>
              <a:rPr>
                <a:latin typeface="Segoe UI"/>
              </a:rPr>
              <a:t>Evitar filtros excessivamente restritivos ao mesmo tempo.</a:t>
            </a:r>
          </a:p>
          <a:p>
            <a:pPr>
              <a:defRPr sz="2200"/>
            </a:pPr>
            <a:r>
              <a:rPr>
                <a:latin typeface="Segoe UI"/>
              </a:rPr>
              <a:t>Conferir logs quando houver baixo volume.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rgbClr val="0F172A"/>
                </a:solidFill>
                <a:latin typeface="Segoe UI"/>
              </a:rPr>
              <a:t>9. Suporte rápido (troubleshooting)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>
                <a:latin typeface="Segoe UI"/>
              </a:rPr>
              <a:t>EXE não abre: verificar antivírus/SmartScreen.</a:t>
            </a:r>
          </a:p>
          <a:p>
            <a:pPr>
              <a:defRPr sz="2200"/>
            </a:pPr>
            <a:r>
              <a:rPr>
                <a:latin typeface="Segoe UI"/>
              </a:rPr>
              <a:t>Erro no build: fechar EXE anterior e pausar OneDrive na pasta.</a:t>
            </a:r>
          </a:p>
          <a:p>
            <a:pPr>
              <a:defRPr sz="2200"/>
            </a:pPr>
            <a:r>
              <a:rPr>
                <a:latin typeface="Segoe UI"/>
              </a:rPr>
              <a:t>Poucos resultados: revisar fontes e categorias multilíngues.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rgbClr val="0F172A"/>
                </a:solidFill>
                <a:latin typeface="Segoe UI"/>
              </a:rPr>
              <a:t>10. Fluxo operacional recomendado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>
                <a:latin typeface="Segoe UI"/>
              </a:rPr>
              <a:t>1) Carregar perfil padrão.</a:t>
            </a:r>
          </a:p>
          <a:p>
            <a:pPr>
              <a:defRPr sz="2200"/>
            </a:pPr>
            <a:r>
              <a:rPr>
                <a:latin typeface="Segoe UI"/>
              </a:rPr>
              <a:t>2) Ajustar países e fontes para o ciclo atual.</a:t>
            </a:r>
          </a:p>
          <a:p>
            <a:pPr>
              <a:defRPr sz="2200"/>
            </a:pPr>
            <a:r>
              <a:rPr>
                <a:latin typeface="Segoe UI"/>
              </a:rPr>
              <a:t>3) Gerar relatório.</a:t>
            </a:r>
          </a:p>
          <a:p>
            <a:pPr>
              <a:defRPr sz="2200"/>
            </a:pPr>
            <a:r>
              <a:rPr>
                <a:latin typeface="Segoe UI"/>
              </a:rPr>
              <a:t>4) Validar destaques e compartilhar.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